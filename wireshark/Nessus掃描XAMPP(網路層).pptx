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3" r:id="rId3"/>
    <p:sldId id="261" r:id="rId4"/>
    <p:sldId id="267" r:id="rId5"/>
    <p:sldId id="266" r:id="rId6"/>
    <p:sldId id="272" r:id="rId7"/>
    <p:sldId id="269" r:id="rId8"/>
    <p:sldId id="270" r:id="rId9"/>
    <p:sldId id="273" r:id="rId10"/>
    <p:sldId id="268" r:id="rId11"/>
    <p:sldId id="274" r:id="rId12"/>
    <p:sldId id="271" r:id="rId13"/>
    <p:sldId id="275" r:id="rId14"/>
    <p:sldId id="260" r:id="rId15"/>
    <p:sldId id="258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318" y="-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9B4EB1-4B80-49E2-A651-10235D52D18B}" type="datetimeFigureOut">
              <a:rPr lang="zh-TW" altLang="en-US" smtClean="0"/>
              <a:t>2025/9/25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3776E8-3B96-457A-9513-7B544A1E37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5385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776E8-3B96-457A-9513-7B544A1E37D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4202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1" dirty="0"/>
              <a:t>弱點測試 </a:t>
            </a:r>
            <a:r>
              <a:rPr lang="en-US" altLang="zh-TW" b="1" dirty="0"/>
              <a:t>= </a:t>
            </a:r>
            <a:r>
              <a:rPr lang="zh-TW" altLang="en-US" b="1" dirty="0"/>
              <a:t>找洞</a:t>
            </a:r>
            <a:r>
              <a:rPr lang="zh-TW" altLang="en-US" dirty="0"/>
              <a:t>：偵測與列出可能漏洞，屬於偵查、風險評估。</a:t>
            </a:r>
          </a:p>
          <a:p>
            <a:r>
              <a:rPr lang="zh-TW" altLang="en-US" b="1" dirty="0"/>
              <a:t>攻擊測試 </a:t>
            </a:r>
            <a:r>
              <a:rPr lang="en-US" altLang="zh-TW" b="1" dirty="0"/>
              <a:t>= </a:t>
            </a:r>
            <a:r>
              <a:rPr lang="zh-TW" altLang="en-US" b="1" dirty="0"/>
              <a:t>真的鑽洞</a:t>
            </a:r>
            <a:r>
              <a:rPr lang="zh-TW" altLang="en-US" dirty="0"/>
              <a:t>：利用已知漏洞嘗試入侵，驗證是否能成功被攻擊。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776E8-3B96-457A-9513-7B544A1E37D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0336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179716-033F-EF30-72BF-F058A1C688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A7A524B-3775-BE31-7B6F-214C1836F5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FD4B918-176E-54FD-996D-3C640879B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EA26E-A986-4592-B12E-A72544F0A208}" type="datetimeFigureOut">
              <a:rPr lang="zh-TW" altLang="en-US" smtClean="0"/>
              <a:t>2025/9/25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E91B2D4-2272-D624-E989-A2FA725F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DFCF761-447F-D969-974E-CAC59A521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53288-B973-48CE-93C3-42D4991816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2037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5F209B-40EA-E3E0-0590-1CFA63C2E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D1B28EA-920A-F922-9B79-F8F23CB1D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DA62BE1-14B1-2AD9-888A-0E629AAD6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EA26E-A986-4592-B12E-A72544F0A208}" type="datetimeFigureOut">
              <a:rPr lang="zh-TW" altLang="en-US" smtClean="0"/>
              <a:t>2025/9/25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5B7DCAF-8F09-229F-9980-3984347A8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797B80A-8C87-2367-6096-92404E11D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53288-B973-48CE-93C3-42D4991816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1627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48BB20-05D5-B762-3CC0-F36F31E5F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1A8D322-E477-5A4D-8832-68B2BB2899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277E643-8929-831D-D827-7953FEDA8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EA26E-A986-4592-B12E-A72544F0A208}" type="datetimeFigureOut">
              <a:rPr lang="zh-TW" altLang="en-US" smtClean="0"/>
              <a:t>2025/9/25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3DEFC4E-0D7B-5288-CB91-2D348CC35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4E888F8-7663-3CA2-3C4C-1D3A62E15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53288-B973-48CE-93C3-42D4991816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113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3EC0BD-3BFF-A35F-0949-FAAB4191D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68AED7-4788-A806-4418-B58EA0A12B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AC71280-61ED-83A0-16DE-C1AC4BC6F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770F336-DB6C-13FB-75FE-6EF1258B9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EA26E-A986-4592-B12E-A72544F0A208}" type="datetimeFigureOut">
              <a:rPr lang="zh-TW" altLang="en-US" smtClean="0"/>
              <a:t>2025/9/25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90642BD-5818-2DEC-0FB7-DD83D107D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9833D4C-2A9B-C79C-B4FE-D4807041B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53288-B973-48CE-93C3-42D4991816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3715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3D3BEE-44D1-8766-F215-016EDCBEB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B550E2-3EA4-2EBB-2FEE-1AFDB4D28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B0D39F7-C648-42ED-5429-0708A38571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145CBE0-0FE7-F688-8B9D-76083AE3CC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7725E58-AB56-9E9B-4A75-56E788CD5E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AF6408B-CE3E-D88E-2B6A-C5862612F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EA26E-A986-4592-B12E-A72544F0A208}" type="datetimeFigureOut">
              <a:rPr lang="zh-TW" altLang="en-US" smtClean="0"/>
              <a:t>2025/9/25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B35C986-7CF9-EA1F-B66B-7D2CBE3BE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C0EDF09-E5B8-02A5-238A-77D306C86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53288-B973-48CE-93C3-42D4991816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6345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B5467E-5928-77A6-7473-CF4C91FA1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EDD0614-5ACF-8D43-7352-743127E4C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EA26E-A986-4592-B12E-A72544F0A208}" type="datetimeFigureOut">
              <a:rPr lang="zh-TW" altLang="en-US" smtClean="0"/>
              <a:t>2025/9/25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B7E2318-D3BE-3CED-0596-0140E1D12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2A3A75D-C9E1-0B89-4619-4188966B0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53288-B973-48CE-93C3-42D4991816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3771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7C6A610-4CD6-78F8-0E16-E6D0145C2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EA26E-A986-4592-B12E-A72544F0A208}" type="datetimeFigureOut">
              <a:rPr lang="zh-TW" altLang="en-US" smtClean="0"/>
              <a:t>2025/9/25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1BFDD41-E6C0-1B9B-9334-FAC1B35B7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BFD8DDF-D51F-6A6E-69FC-0CF382BF3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53288-B973-48CE-93C3-42D4991816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974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CF6A23-94F8-773E-A88E-E16D90FAE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0848E70-04D5-5BB1-CDBB-506D0FA17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16B6E77-7437-7E04-CE99-2B7078CED0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1FD0358-72CB-6A96-B07E-96F325C88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EA26E-A986-4592-B12E-A72544F0A208}" type="datetimeFigureOut">
              <a:rPr lang="zh-TW" altLang="en-US" smtClean="0"/>
              <a:t>2025/9/25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8AF66CB-7D8F-4153-4B8E-AA069B005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3726687-02B9-09AD-8238-B08280A3F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53288-B973-48CE-93C3-42D4991816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294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5860BB-E67E-2468-D6F4-1D5BEFFC2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B9CCB94-265F-273C-3470-6B79498B74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F9544EF-A516-4262-BA6D-5152F78E60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60F5F57-F02E-B502-E9F4-DFBA10DC8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EA26E-A986-4592-B12E-A72544F0A208}" type="datetimeFigureOut">
              <a:rPr lang="zh-TW" altLang="en-US" smtClean="0"/>
              <a:t>2025/9/25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2FC063C-5080-1363-F43B-E69306833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3C5817F-6CA1-504C-58A5-838CAF902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53288-B973-48CE-93C3-42D4991816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8982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9F3A56-4A7E-410E-0B2B-5A212E620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83C493F-45C2-2F18-9E00-2763D0FFFC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F35B1CF-2DFE-9D40-1E0B-3FA4835E2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EA26E-A986-4592-B12E-A72544F0A208}" type="datetimeFigureOut">
              <a:rPr lang="zh-TW" altLang="en-US" smtClean="0"/>
              <a:t>2025/9/25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96B594C-7FCB-01F3-49F8-45B363AFB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73C7310-2FE3-D982-71E8-8405485E1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53288-B973-48CE-93C3-42D4991816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7818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9DDC4E6-2C5D-2857-EF06-F9C545F297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213C1CF-CF23-B524-710F-0141918C12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E89F83-3312-3148-6540-D0D81780D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EA26E-A986-4592-B12E-A72544F0A208}" type="datetimeFigureOut">
              <a:rPr lang="zh-TW" altLang="en-US" smtClean="0"/>
              <a:t>2025/9/25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55B73FF-58AC-DF4D-2549-84E69421C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8755A82-7167-5C25-CBA4-F5DC30724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53288-B973-48CE-93C3-42D4991816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5314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C1BD7D0-8DB6-A0CA-DE55-BD59597F1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E45C530-D944-58A3-5586-F2D48A9C6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EECBC46-5E3D-9D83-ACAA-438A1FFC6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9EA26E-A986-4592-B12E-A72544F0A208}" type="datetimeFigureOut">
              <a:rPr lang="zh-TW" altLang="en-US" smtClean="0"/>
              <a:t>2025/9/25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41A7004-8BA9-DB30-7D72-B0D3FDC557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B2E8C3-466D-8487-770C-B4CDC6A0E7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553288-B973-48CE-93C3-42D4991816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9878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73C4BF-40E0-2E98-B28D-EE5E1D9DED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Nessus</a:t>
            </a:r>
            <a:r>
              <a:rPr lang="zh-TW" altLang="en-US" dirty="0"/>
              <a:t>掃描</a:t>
            </a:r>
            <a:r>
              <a:rPr lang="en-US" altLang="zh-TW" dirty="0"/>
              <a:t>XAMPP(</a:t>
            </a:r>
            <a:r>
              <a:rPr lang="zh-TW" altLang="en-US" dirty="0"/>
              <a:t>網路層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9CC8C01-9C1F-673D-8558-68604AB19E47}"/>
              </a:ext>
            </a:extLst>
          </p:cNvPr>
          <p:cNvSpPr txBox="1"/>
          <p:nvPr/>
        </p:nvSpPr>
        <p:spPr>
          <a:xfrm>
            <a:off x="3415880" y="5583502"/>
            <a:ext cx="53602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2025/9/26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meeting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進度報告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莊雅婷</a:t>
            </a:r>
          </a:p>
        </p:txBody>
      </p:sp>
    </p:spTree>
    <p:extLst>
      <p:ext uri="{BB962C8B-B14F-4D97-AF65-F5344CB8AC3E}">
        <p14:creationId xmlns:p14="http://schemas.microsoft.com/office/powerpoint/2010/main" val="2534302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D547D816-0D91-5DFF-3F94-CAC277DBA4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8661759"/>
              </p:ext>
            </p:extLst>
          </p:nvPr>
        </p:nvGraphicFramePr>
        <p:xfrm>
          <a:off x="3051728" y="1974065"/>
          <a:ext cx="6088543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241842654"/>
                    </a:ext>
                  </a:extLst>
                </a:gridCol>
                <a:gridCol w="2024543">
                  <a:extLst>
                    <a:ext uri="{9D8B030D-6E8A-4147-A177-3AD203B41FA5}">
                      <a16:colId xmlns:a16="http://schemas.microsoft.com/office/drawing/2014/main" val="8117205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元件 </a:t>
                      </a:r>
                      <a:r>
                        <a:rPr lang="en-US" altLang="zh-TW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 </a:t>
                      </a:r>
                      <a:r>
                        <a:rPr lang="zh-TW" altLang="en-US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套件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版本號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712331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Apache HTTP Server</a:t>
                      </a:r>
                      <a:endParaRPr lang="en-US" sz="180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2.4.58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208772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MariaDB</a:t>
                      </a:r>
                      <a:endParaRPr lang="en-US" sz="18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10.4.32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639241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PHP</a:t>
                      </a:r>
                      <a:endParaRPr lang="en-US" sz="18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8.2.12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4254850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phpMyAdmin</a:t>
                      </a:r>
                      <a:endParaRPr lang="en-US" sz="180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5.2.1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303560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OpenSSL</a:t>
                      </a:r>
                      <a:endParaRPr lang="en-US" sz="180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3.1.3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07285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XAMPP Control Panel</a:t>
                      </a:r>
                      <a:endParaRPr lang="en-US" sz="180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3.2.4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4258736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Webalizer</a:t>
                      </a:r>
                      <a:r>
                        <a:rPr lang="en-US" sz="180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（</a:t>
                      </a:r>
                      <a:r>
                        <a:rPr lang="zh-TW" altLang="en-US" sz="180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網站統計分析）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2.23-04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4060854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Mercury Mail Transport System</a:t>
                      </a:r>
                      <a:endParaRPr lang="en-US" sz="18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4.63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503931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FileZilla FTP Server</a:t>
                      </a:r>
                      <a:endParaRPr lang="en-US" sz="180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0.9.41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361960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 err="1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Tomcat</a:t>
                      </a:r>
                      <a:r>
                        <a:rPr lang="en-US" sz="1800" dirty="0" err="1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（with</a:t>
                      </a:r>
                      <a:r>
                        <a:rPr lang="en-US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en-US" sz="1800" dirty="0" err="1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mod_proxy_ajp</a:t>
                      </a:r>
                      <a:r>
                        <a:rPr lang="en-US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）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8.5.96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806942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Strawberry Perl Portable</a:t>
                      </a:r>
                      <a:endParaRPr lang="en-US" sz="18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5.32.1.1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884862454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0208791E-855C-34B4-16D4-146364BD71AE}"/>
              </a:ext>
            </a:extLst>
          </p:cNvPr>
          <p:cNvSpPr txBox="1"/>
          <p:nvPr/>
        </p:nvSpPr>
        <p:spPr>
          <a:xfrm>
            <a:off x="2032000" y="433855"/>
            <a:ext cx="8128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xampp-windows-x64-8.2.12-0-VS16-installer</a:t>
            </a:r>
          </a:p>
        </p:txBody>
      </p:sp>
    </p:spTree>
    <p:extLst>
      <p:ext uri="{BB962C8B-B14F-4D97-AF65-F5344CB8AC3E}">
        <p14:creationId xmlns:p14="http://schemas.microsoft.com/office/powerpoint/2010/main" val="4221414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21217B-1669-30E6-A487-2BD23F4BE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58C2773-0858-791A-02BF-77F84C72B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要監聽本機 </a:t>
            </a:r>
            <a:r>
              <a:rPr lang="en-US" altLang="zh-TW" dirty="0"/>
              <a:t>(loopback) </a:t>
            </a:r>
            <a:r>
              <a:rPr lang="zh-TW" altLang="en-US" dirty="0"/>
              <a:t>流量，需要在 </a:t>
            </a:r>
            <a:r>
              <a:rPr lang="en-US" altLang="zh-TW" dirty="0"/>
              <a:t>Wireshark </a:t>
            </a:r>
            <a:r>
              <a:rPr lang="zh-TW" altLang="en-US" dirty="0"/>
              <a:t>的「介面列表」裡選到 </a:t>
            </a:r>
            <a:r>
              <a:rPr lang="en-US" altLang="zh-TW" b="1" dirty="0" err="1"/>
              <a:t>Npcap</a:t>
            </a:r>
            <a:r>
              <a:rPr lang="en-US" altLang="zh-TW" b="1" dirty="0"/>
              <a:t> Loopback Adapter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en-US" altLang="zh-TW" dirty="0"/>
              <a:t>Nessus</a:t>
            </a:r>
            <a:r>
              <a:rPr lang="zh-TW" altLang="en-US" dirty="0"/>
              <a:t>開始偵測到結束</a:t>
            </a:r>
            <a:r>
              <a:rPr lang="en-US" altLang="zh-TW" dirty="0"/>
              <a:t>:</a:t>
            </a:r>
            <a:r>
              <a:rPr lang="zh-TW" altLang="en-US" dirty="0"/>
              <a:t>網路層共計</a:t>
            </a:r>
            <a:r>
              <a:rPr lang="en-US" altLang="zh-TW" dirty="0"/>
              <a:t>2158368</a:t>
            </a:r>
            <a:r>
              <a:rPr lang="zh-TW" altLang="en-US" dirty="0"/>
              <a:t>個封包</a:t>
            </a:r>
            <a:endParaRPr lang="en-US" altLang="zh-TW" dirty="0"/>
          </a:p>
          <a:p>
            <a:r>
              <a:rPr lang="en-US" altLang="zh-TW" dirty="0"/>
              <a:t>(XAMPP </a:t>
            </a:r>
            <a:r>
              <a:rPr lang="zh-TW" altLang="en-US" dirty="0"/>
              <a:t>寫 </a:t>
            </a:r>
            <a:r>
              <a:rPr lang="en-US" altLang="zh-TW" dirty="0"/>
              <a:t>log</a:t>
            </a:r>
            <a:r>
              <a:rPr lang="zh-TW" altLang="en-US" dirty="0"/>
              <a:t>、</a:t>
            </a:r>
            <a:r>
              <a:rPr lang="en-US" altLang="zh-TW" dirty="0"/>
              <a:t>n8n </a:t>
            </a:r>
            <a:r>
              <a:rPr lang="zh-TW" altLang="en-US" dirty="0"/>
              <a:t>讀 </a:t>
            </a:r>
            <a:r>
              <a:rPr lang="en-US" altLang="zh-TW" dirty="0"/>
              <a:t>log </a:t>
            </a:r>
            <a:r>
              <a:rPr lang="zh-TW" altLang="en-US" dirty="0"/>
              <a:t>屬於作業系統磁碟 </a:t>
            </a:r>
            <a:r>
              <a:rPr lang="en-US" altLang="zh-TW" dirty="0"/>
              <a:t>I/O</a:t>
            </a:r>
            <a:r>
              <a:rPr lang="zh-TW" altLang="en-US" dirty="0"/>
              <a:t>，</a:t>
            </a:r>
            <a:r>
              <a:rPr lang="en-US" altLang="zh-TW" dirty="0"/>
              <a:t>Wireshark </a:t>
            </a:r>
            <a:r>
              <a:rPr lang="zh-TW" altLang="en-US" dirty="0"/>
              <a:t>不能捕捉，暫不討論。</a:t>
            </a:r>
            <a:r>
              <a:rPr lang="en-US" altLang="zh-TW" dirty="0"/>
              <a:t>)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87959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F63571EC-AE36-8698-FCE0-AE34FB164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652" y="1137918"/>
            <a:ext cx="8030696" cy="4582164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C1B96A46-6BD1-1359-871F-A4F91FD234DF}"/>
              </a:ext>
            </a:extLst>
          </p:cNvPr>
          <p:cNvSpPr txBox="1"/>
          <p:nvPr/>
        </p:nvSpPr>
        <p:spPr>
          <a:xfrm>
            <a:off x="4091940" y="5697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所有帶有 </a:t>
            </a:r>
            <a:r>
              <a:rPr lang="en-US" altLang="zh-TW" dirty="0">
                <a:solidFill>
                  <a:srgbClr val="FF0000"/>
                </a:solidFill>
              </a:rPr>
              <a:t>User-Agent: Nessus </a:t>
            </a:r>
            <a:r>
              <a:rPr lang="zh-TW" altLang="en-US" dirty="0">
                <a:solidFill>
                  <a:srgbClr val="FF0000"/>
                </a:solidFill>
              </a:rPr>
              <a:t>的請求封包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47766C2-D014-FCDE-DF60-7269F9563F55}"/>
              </a:ext>
            </a:extLst>
          </p:cNvPr>
          <p:cNvSpPr/>
          <p:nvPr/>
        </p:nvSpPr>
        <p:spPr>
          <a:xfrm>
            <a:off x="2082801" y="1322070"/>
            <a:ext cx="8234679" cy="1714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9771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2B888B7-48C8-8F68-0C08-B8266BAEF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485305"/>
              </p:ext>
            </p:extLst>
          </p:nvPr>
        </p:nvGraphicFramePr>
        <p:xfrm>
          <a:off x="2032000" y="719666"/>
          <a:ext cx="8127999" cy="431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82447206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64366434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5970300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/>
                        <a:t>目標路徑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作用</a:t>
                      </a:r>
                      <a:r>
                        <a:rPr lang="en-US" altLang="zh-TW"/>
                        <a:t>/</a:t>
                      </a:r>
                      <a:r>
                        <a:rPr lang="zh-TW" altLang="en-US"/>
                        <a:t>性質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風險判斷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2718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/robots.txt、/sitemap.xml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純探測，試圖找網站地圖、搜尋索引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資訊收集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1977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/cobalt、/admin.back、/admin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嘗試找常見後台名稱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b="1"/>
                        <a:t>弱點掃描</a:t>
                      </a:r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3990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/awstats/awstats.pl、/awstats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探測 </a:t>
                      </a:r>
                      <a:r>
                        <a:rPr lang="en-US" altLang="zh-TW"/>
                        <a:t>Awstats </a:t>
                      </a:r>
                      <a:r>
                        <a:rPr lang="zh-TW" altLang="en-US"/>
                        <a:t>統計頁面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b="1"/>
                        <a:t>弱點掃描</a:t>
                      </a:r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961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/login、/login.html、/login.jsp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嘗試找登入介面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弱點掃描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5580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/api/sonicos/...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專門探 </a:t>
                      </a:r>
                      <a:r>
                        <a:rPr lang="en-US"/>
                        <a:t>SonicWall SSL-VPN </a:t>
                      </a:r>
                      <a:r>
                        <a:rPr lang="zh-TW" altLang="en-US"/>
                        <a:t>弱點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b="1"/>
                        <a:t>攻擊測試</a:t>
                      </a:r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5209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/explorer/index.html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檔案瀏覽器頁面探測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弱點掃描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685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/role-ui/login.rol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特定產品登入頁面探測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/>
                        <a:t>弱點掃描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7006212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37A6A660-EC15-F9F5-49D7-8C331C263C97}"/>
              </a:ext>
            </a:extLst>
          </p:cNvPr>
          <p:cNvSpPr/>
          <p:nvPr/>
        </p:nvSpPr>
        <p:spPr>
          <a:xfrm>
            <a:off x="2031999" y="3676650"/>
            <a:ext cx="8127999" cy="5905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4115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69BAD-A6B5-C20D-2BD2-B8B5862E6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2FD7F2F2-F8CB-7B44-C3CB-5AD2DAAC5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652" y="1137918"/>
            <a:ext cx="8030696" cy="4582164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4212455D-9335-1021-B7C1-D8DF5C7EE802}"/>
              </a:ext>
            </a:extLst>
          </p:cNvPr>
          <p:cNvSpPr/>
          <p:nvPr/>
        </p:nvSpPr>
        <p:spPr>
          <a:xfrm>
            <a:off x="2076939" y="3806190"/>
            <a:ext cx="8234679" cy="2705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37B0F2E5-FC33-7204-C227-B3526033F1E1}"/>
              </a:ext>
            </a:extLst>
          </p:cNvPr>
          <p:cNvSpPr txBox="1"/>
          <p:nvPr/>
        </p:nvSpPr>
        <p:spPr>
          <a:xfrm>
            <a:off x="7063348" y="41617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dirty="0">
                <a:solidFill>
                  <a:srgbClr val="FF0000"/>
                </a:solidFill>
              </a:rPr>
              <a:t>右鍵</a:t>
            </a:r>
            <a:r>
              <a:rPr lang="en-US" altLang="zh-TW" dirty="0">
                <a:solidFill>
                  <a:srgbClr val="FF0000"/>
                </a:solidFill>
              </a:rPr>
              <a:t>-&gt;Follow TCP stream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256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EC94E24A-83C9-EA49-BD6A-651D11011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334" y="3429000"/>
            <a:ext cx="11517332" cy="1876687"/>
          </a:xfrm>
          <a:prstGeom prst="rect">
            <a:avLst/>
          </a:prstGeom>
        </p:spPr>
      </p:pic>
      <p:sp>
        <p:nvSpPr>
          <p:cNvPr id="6" name="標題 1">
            <a:extLst>
              <a:ext uri="{FF2B5EF4-FFF2-40B4-BE49-F238E27FC236}">
                <a16:creationId xmlns:a16="http://schemas.microsoft.com/office/drawing/2014/main" id="{9BFE330F-1BF2-5AF9-D0AD-A3669B3E5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zh-TW" altLang="en-US" dirty="0"/>
              <a:t>網路封包傳輸過程</a:t>
            </a:r>
          </a:p>
        </p:txBody>
      </p:sp>
    </p:spTree>
    <p:extLst>
      <p:ext uri="{BB962C8B-B14F-4D97-AF65-F5344CB8AC3E}">
        <p14:creationId xmlns:p14="http://schemas.microsoft.com/office/powerpoint/2010/main" val="4150649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24588C8-DF89-189E-AD51-0D3AD21555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38313"/>
              </p:ext>
            </p:extLst>
          </p:nvPr>
        </p:nvGraphicFramePr>
        <p:xfrm>
          <a:off x="2031999" y="1674254"/>
          <a:ext cx="8128001" cy="35094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47828693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4841898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86577955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98522039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82759295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27730365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6135637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No.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900"/>
                        <a:t>時間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900"/>
                        <a:t>來源 → 目的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900"/>
                        <a:t>協定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900"/>
                        <a:t>長度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Info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900"/>
                        <a:t>作用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10178444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 b="1"/>
                        <a:t>690089</a:t>
                      </a:r>
                      <a:endParaRPr lang="zh-TW" altLang="en-US" sz="90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262.917503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56569 → 1234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TCP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56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SYN</a:t>
                      </a:r>
                      <a:endParaRPr lang="en-US" sz="90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900"/>
                        <a:t>連線建立第一步：掃描端</a:t>
                      </a:r>
                      <a:r>
                        <a:rPr lang="en-US" altLang="zh-TW" sz="900"/>
                        <a:t>(Nessus) </a:t>
                      </a:r>
                      <a:r>
                        <a:rPr lang="zh-TW" altLang="en-US" sz="900"/>
                        <a:t>對目標 </a:t>
                      </a:r>
                      <a:r>
                        <a:rPr lang="en-US" altLang="zh-TW" sz="900"/>
                        <a:t>1234 </a:t>
                      </a:r>
                      <a:r>
                        <a:rPr lang="zh-TW" altLang="en-US" sz="900"/>
                        <a:t>埠送出 </a:t>
                      </a:r>
                      <a:r>
                        <a:rPr lang="en-US" altLang="zh-TW" sz="900"/>
                        <a:t>SYN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1496484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 b="1" dirty="0"/>
                        <a:t>690090</a:t>
                      </a:r>
                      <a:endParaRPr lang="zh-TW" altLang="en-US" sz="90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262.917595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1234 → 56569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TCP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56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/>
                        <a:t>SYN, ACK</a:t>
                      </a:r>
                      <a:endParaRPr lang="en-US" sz="90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900"/>
                        <a:t>伺服器</a:t>
                      </a:r>
                      <a:r>
                        <a:rPr lang="en-US" altLang="zh-TW" sz="900"/>
                        <a:t>(XAMPP/Apache) </a:t>
                      </a:r>
                      <a:r>
                        <a:rPr lang="zh-TW" altLang="en-US" sz="900"/>
                        <a:t>回應，同意連線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211851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 b="1" dirty="0"/>
                        <a:t>690091</a:t>
                      </a:r>
                      <a:endParaRPr lang="zh-TW" altLang="en-US" sz="90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262.917614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56569 → 1234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TCP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44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/>
                        <a:t>ACK</a:t>
                      </a:r>
                      <a:endParaRPr lang="en-US" sz="90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900"/>
                        <a:t>三向交握完成，</a:t>
                      </a:r>
                      <a:r>
                        <a:rPr lang="en-US" altLang="zh-TW" sz="900"/>
                        <a:t>TCP </a:t>
                      </a:r>
                      <a:r>
                        <a:rPr lang="zh-TW" altLang="en-US" sz="900"/>
                        <a:t>連線建立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647752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 b="1" dirty="0"/>
                        <a:t>690092</a:t>
                      </a:r>
                      <a:endParaRPr lang="zh-TW" altLang="en-US" sz="90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 dirty="0"/>
                        <a:t>262.917772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56569 → 1234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HTTP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270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/>
                        <a:t>GET /</a:t>
                      </a:r>
                      <a:r>
                        <a:rPr lang="en-US" sz="900" b="1" dirty="0" err="1"/>
                        <a:t>api</a:t>
                      </a:r>
                      <a:r>
                        <a:rPr lang="en-US" sz="900" b="1" dirty="0"/>
                        <a:t>/</a:t>
                      </a:r>
                      <a:r>
                        <a:rPr lang="en-US" sz="900" b="1" dirty="0" err="1"/>
                        <a:t>sonicos</a:t>
                      </a:r>
                      <a:r>
                        <a:rPr lang="en-US" sz="900" b="1" dirty="0"/>
                        <a:t>/is-</a:t>
                      </a:r>
                      <a:r>
                        <a:rPr lang="en-US" sz="900" b="1" dirty="0" err="1"/>
                        <a:t>sslvpn</a:t>
                      </a:r>
                      <a:r>
                        <a:rPr lang="en-US" sz="900" b="1" dirty="0"/>
                        <a:t>-enabled</a:t>
                      </a:r>
                      <a:endParaRPr lang="en-US" sz="90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 dirty="0"/>
                        <a:t>Nessus </a:t>
                      </a:r>
                      <a:r>
                        <a:rPr lang="zh-TW" altLang="en-US" sz="900" dirty="0"/>
                        <a:t>發送真正的弱點探測請求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96684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 b="1" dirty="0"/>
                        <a:t>690093</a:t>
                      </a:r>
                      <a:endParaRPr lang="zh-TW" altLang="en-US" sz="90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262.917785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1234 → 56569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TCP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44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ACK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900" dirty="0"/>
                        <a:t>伺服器確認已收到請求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1490221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 b="1" dirty="0"/>
                        <a:t>690094</a:t>
                      </a:r>
                      <a:endParaRPr lang="zh-TW" altLang="en-US" sz="90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262.918254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1234 → 56569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HTTP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358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900" b="1" dirty="0"/>
                        <a:t>HTTP/1.1 200 OK , JSON</a:t>
                      </a:r>
                      <a:endParaRPr lang="pl-PL" sz="90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900" dirty="0"/>
                        <a:t>伺服器回傳回應（此例返回 </a:t>
                      </a:r>
                      <a:r>
                        <a:rPr lang="en-US" altLang="zh-TW" sz="900" dirty="0"/>
                        <a:t>JSON </a:t>
                      </a:r>
                      <a:r>
                        <a:rPr lang="zh-TW" altLang="en-US" sz="900" dirty="0"/>
                        <a:t>資料）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3123665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 b="1" dirty="0"/>
                        <a:t>690095</a:t>
                      </a:r>
                      <a:endParaRPr lang="zh-TW" altLang="en-US" sz="90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262.918276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56569 → 1234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TCP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44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ACK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900" dirty="0"/>
                        <a:t>掃描端確認收到伺服器回應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1427555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 b="1"/>
                        <a:t>690100</a:t>
                      </a:r>
                      <a:endParaRPr lang="zh-TW" altLang="en-US" sz="90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262.918801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56569 → 1234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TCP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44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RST, ACK</a:t>
                      </a:r>
                      <a:endParaRPr lang="en-US" sz="90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900" dirty="0"/>
                        <a:t>掃描端主動結束連線（重設連線）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941605243"/>
                  </a:ext>
                </a:extLst>
              </a:tr>
            </a:tbl>
          </a:graphicData>
        </a:graphic>
      </p:graphicFrame>
      <p:sp>
        <p:nvSpPr>
          <p:cNvPr id="8" name="標題 1">
            <a:extLst>
              <a:ext uri="{FF2B5EF4-FFF2-40B4-BE49-F238E27FC236}">
                <a16:creationId xmlns:a16="http://schemas.microsoft.com/office/drawing/2014/main" id="{D28AF0E7-64CB-40E2-1FAB-1D8FBFE0A26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/>
              <a:t>網路封包傳輸過程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54643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B6C3D-1574-93DD-23BA-9C14256CD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AC9CB8A-899C-F4FA-6330-710227496750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1674254"/>
          <a:ext cx="8128001" cy="35094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47828693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4841898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86577955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98522039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82759295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27730365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6135637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No.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900"/>
                        <a:t>時間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900"/>
                        <a:t>來源 → 目的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900"/>
                        <a:t>協定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900"/>
                        <a:t>長度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Info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900"/>
                        <a:t>作用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10178444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 b="1"/>
                        <a:t>690089</a:t>
                      </a:r>
                      <a:endParaRPr lang="zh-TW" altLang="en-US" sz="90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262.917503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56569 → 1234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TCP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56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SYN</a:t>
                      </a:r>
                      <a:endParaRPr lang="en-US" sz="90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900"/>
                        <a:t>連線建立第一步：掃描端</a:t>
                      </a:r>
                      <a:r>
                        <a:rPr lang="en-US" altLang="zh-TW" sz="900"/>
                        <a:t>(Nessus) </a:t>
                      </a:r>
                      <a:r>
                        <a:rPr lang="zh-TW" altLang="en-US" sz="900"/>
                        <a:t>對目標 </a:t>
                      </a:r>
                      <a:r>
                        <a:rPr lang="en-US" altLang="zh-TW" sz="900"/>
                        <a:t>1234 </a:t>
                      </a:r>
                      <a:r>
                        <a:rPr lang="zh-TW" altLang="en-US" sz="900"/>
                        <a:t>埠送出 </a:t>
                      </a:r>
                      <a:r>
                        <a:rPr lang="en-US" altLang="zh-TW" sz="900"/>
                        <a:t>SYN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1496484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 b="1" dirty="0"/>
                        <a:t>690090</a:t>
                      </a:r>
                      <a:endParaRPr lang="zh-TW" altLang="en-US" sz="90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262.917595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1234 → 56569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TCP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56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/>
                        <a:t>SYN, ACK</a:t>
                      </a:r>
                      <a:endParaRPr lang="en-US" sz="90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900"/>
                        <a:t>伺服器</a:t>
                      </a:r>
                      <a:r>
                        <a:rPr lang="en-US" altLang="zh-TW" sz="900"/>
                        <a:t>(XAMPP/Apache) </a:t>
                      </a:r>
                      <a:r>
                        <a:rPr lang="zh-TW" altLang="en-US" sz="900"/>
                        <a:t>回應，同意連線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211851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 b="1" dirty="0"/>
                        <a:t>690091</a:t>
                      </a:r>
                      <a:endParaRPr lang="zh-TW" altLang="en-US" sz="90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262.917614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56569 → 1234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TCP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44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/>
                        <a:t>ACK</a:t>
                      </a:r>
                      <a:endParaRPr lang="en-US" sz="90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900"/>
                        <a:t>三向交握完成，</a:t>
                      </a:r>
                      <a:r>
                        <a:rPr lang="en-US" altLang="zh-TW" sz="900"/>
                        <a:t>TCP </a:t>
                      </a:r>
                      <a:r>
                        <a:rPr lang="zh-TW" altLang="en-US" sz="900"/>
                        <a:t>連線建立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647752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 b="1" dirty="0"/>
                        <a:t>690092</a:t>
                      </a:r>
                      <a:endParaRPr lang="zh-TW" altLang="en-US" sz="90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 dirty="0"/>
                        <a:t>262.917772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56569 → 1234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HTTP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270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/>
                        <a:t>GET /</a:t>
                      </a:r>
                      <a:r>
                        <a:rPr lang="en-US" sz="900" b="1" dirty="0" err="1"/>
                        <a:t>api</a:t>
                      </a:r>
                      <a:r>
                        <a:rPr lang="en-US" sz="900" b="1" dirty="0"/>
                        <a:t>/</a:t>
                      </a:r>
                      <a:r>
                        <a:rPr lang="en-US" sz="900" b="1" dirty="0" err="1"/>
                        <a:t>sonicos</a:t>
                      </a:r>
                      <a:r>
                        <a:rPr lang="en-US" sz="900" b="1" dirty="0"/>
                        <a:t>/is-</a:t>
                      </a:r>
                      <a:r>
                        <a:rPr lang="en-US" sz="900" b="1" dirty="0" err="1"/>
                        <a:t>sslvpn</a:t>
                      </a:r>
                      <a:r>
                        <a:rPr lang="en-US" sz="900" b="1" dirty="0"/>
                        <a:t>-enabled</a:t>
                      </a:r>
                      <a:endParaRPr lang="en-US" sz="90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 dirty="0"/>
                        <a:t>Nessus </a:t>
                      </a:r>
                      <a:r>
                        <a:rPr lang="zh-TW" altLang="en-US" sz="900" dirty="0"/>
                        <a:t>發送真正的弱點探測請求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96684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 b="1" dirty="0"/>
                        <a:t>690093</a:t>
                      </a:r>
                      <a:endParaRPr lang="zh-TW" altLang="en-US" sz="90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262.917785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1234 → 56569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TCP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44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ACK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900" dirty="0"/>
                        <a:t>伺服器確認已收到請求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1490221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 b="1" dirty="0"/>
                        <a:t>690094</a:t>
                      </a:r>
                      <a:endParaRPr lang="zh-TW" altLang="en-US" sz="90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262.918254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1234 → 56569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HTTP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358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900" b="1" dirty="0"/>
                        <a:t>HTTP/1.1 200 OK , JSON</a:t>
                      </a:r>
                      <a:endParaRPr lang="pl-PL" sz="90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900" dirty="0"/>
                        <a:t>伺服器回傳回應（此例返回 </a:t>
                      </a:r>
                      <a:r>
                        <a:rPr lang="en-US" altLang="zh-TW" sz="900" dirty="0"/>
                        <a:t>JSON </a:t>
                      </a:r>
                      <a:r>
                        <a:rPr lang="zh-TW" altLang="en-US" sz="900" dirty="0"/>
                        <a:t>資料）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3123665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 b="1" dirty="0"/>
                        <a:t>690095</a:t>
                      </a:r>
                      <a:endParaRPr lang="zh-TW" altLang="en-US" sz="90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262.918276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56569 → 1234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TCP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44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ACK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900" dirty="0"/>
                        <a:t>掃描端確認收到伺服器回應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1427555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 b="1"/>
                        <a:t>690100</a:t>
                      </a:r>
                      <a:endParaRPr lang="zh-TW" altLang="en-US" sz="90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262.918801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56569 → 1234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TCP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44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RST, ACK</a:t>
                      </a:r>
                      <a:endParaRPr lang="en-US" sz="90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900" dirty="0"/>
                        <a:t>掃描端主動結束連線（重設連線）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941605243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C02ECDB1-D2FB-5598-DE8E-FB5494480CB9}"/>
              </a:ext>
            </a:extLst>
          </p:cNvPr>
          <p:cNvSpPr/>
          <p:nvPr/>
        </p:nvSpPr>
        <p:spPr>
          <a:xfrm>
            <a:off x="7810500" y="3310890"/>
            <a:ext cx="2349500" cy="3924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6934C5F-C44F-0607-97C1-537BD549BEA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/>
              <a:t>網路封包傳輸過程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25417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EE4C3E12-C555-2CC5-FDE6-471B3BC16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4306" y="0"/>
            <a:ext cx="6023387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07BD49D9-C0C4-0E4F-0340-77D27A45E98B}"/>
              </a:ext>
            </a:extLst>
          </p:cNvPr>
          <p:cNvSpPr/>
          <p:nvPr/>
        </p:nvSpPr>
        <p:spPr>
          <a:xfrm>
            <a:off x="5730240" y="5882640"/>
            <a:ext cx="1752600" cy="2362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335A4C2-71DA-2C4D-AC97-E1AB899459B9}"/>
              </a:ext>
            </a:extLst>
          </p:cNvPr>
          <p:cNvSpPr txBox="1"/>
          <p:nvPr/>
        </p:nvSpPr>
        <p:spPr>
          <a:xfrm>
            <a:off x="5425440" y="386357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SonicWall</a:t>
            </a:r>
            <a:r>
              <a:rPr lang="zh-TW" altLang="en-US" dirty="0">
                <a:solidFill>
                  <a:srgbClr val="FF0000"/>
                </a:solidFill>
              </a:rPr>
              <a:t>（</a:t>
            </a:r>
            <a:r>
              <a:rPr lang="en-US" altLang="zh-TW" dirty="0" err="1">
                <a:solidFill>
                  <a:srgbClr val="FF0000"/>
                </a:solidFill>
              </a:rPr>
              <a:t>SonicOS</a:t>
            </a:r>
            <a:r>
              <a:rPr lang="zh-TW" altLang="en-US" dirty="0">
                <a:solidFill>
                  <a:srgbClr val="FF0000"/>
                </a:solidFill>
              </a:rPr>
              <a:t>）</a:t>
            </a:r>
            <a:r>
              <a:rPr lang="en-US" altLang="zh-TW" dirty="0">
                <a:solidFill>
                  <a:srgbClr val="FF0000"/>
                </a:solidFill>
              </a:rPr>
              <a:t>SSL-VPN </a:t>
            </a:r>
            <a:r>
              <a:rPr lang="zh-TW" altLang="en-US" dirty="0">
                <a:solidFill>
                  <a:srgbClr val="FF0000"/>
                </a:solidFill>
              </a:rPr>
              <a:t>產品的 </a:t>
            </a:r>
            <a:r>
              <a:rPr lang="en-US" altLang="zh-TW" dirty="0">
                <a:solidFill>
                  <a:srgbClr val="FF0000"/>
                </a:solidFill>
              </a:rPr>
              <a:t>REST API </a:t>
            </a:r>
            <a:r>
              <a:rPr lang="zh-TW" altLang="en-US" dirty="0">
                <a:solidFill>
                  <a:srgbClr val="FF0000"/>
                </a:solidFill>
              </a:rPr>
              <a:t>路徑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3EA5CE-BA7E-6BCB-5650-D4FC402C92F9}"/>
              </a:ext>
            </a:extLst>
          </p:cNvPr>
          <p:cNvSpPr/>
          <p:nvPr/>
        </p:nvSpPr>
        <p:spPr>
          <a:xfrm>
            <a:off x="3421380" y="4145280"/>
            <a:ext cx="2004060" cy="2362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841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3F107-AAFC-4D13-D469-14A6733E9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27C4125-7767-AB3E-C56C-BDD049ED6874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1674254"/>
          <a:ext cx="8128001" cy="35094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47828693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4841898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86577955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98522039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82759295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27730365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6135637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No.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900"/>
                        <a:t>時間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900"/>
                        <a:t>來源 → 目的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900"/>
                        <a:t>協定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900"/>
                        <a:t>長度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Info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900"/>
                        <a:t>作用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10178444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 b="1"/>
                        <a:t>690089</a:t>
                      </a:r>
                      <a:endParaRPr lang="zh-TW" altLang="en-US" sz="90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262.917503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56569 → 1234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TCP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56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SYN</a:t>
                      </a:r>
                      <a:endParaRPr lang="en-US" sz="90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900"/>
                        <a:t>連線建立第一步：掃描端</a:t>
                      </a:r>
                      <a:r>
                        <a:rPr lang="en-US" altLang="zh-TW" sz="900"/>
                        <a:t>(Nessus) </a:t>
                      </a:r>
                      <a:r>
                        <a:rPr lang="zh-TW" altLang="en-US" sz="900"/>
                        <a:t>對目標 </a:t>
                      </a:r>
                      <a:r>
                        <a:rPr lang="en-US" altLang="zh-TW" sz="900"/>
                        <a:t>1234 </a:t>
                      </a:r>
                      <a:r>
                        <a:rPr lang="zh-TW" altLang="en-US" sz="900"/>
                        <a:t>埠送出 </a:t>
                      </a:r>
                      <a:r>
                        <a:rPr lang="en-US" altLang="zh-TW" sz="900"/>
                        <a:t>SYN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1496484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 b="1" dirty="0"/>
                        <a:t>690090</a:t>
                      </a:r>
                      <a:endParaRPr lang="zh-TW" altLang="en-US" sz="90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262.917595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1234 → 56569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TCP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56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/>
                        <a:t>SYN, ACK</a:t>
                      </a:r>
                      <a:endParaRPr lang="en-US" sz="90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900"/>
                        <a:t>伺服器</a:t>
                      </a:r>
                      <a:r>
                        <a:rPr lang="en-US" altLang="zh-TW" sz="900"/>
                        <a:t>(XAMPP/Apache) </a:t>
                      </a:r>
                      <a:r>
                        <a:rPr lang="zh-TW" altLang="en-US" sz="900"/>
                        <a:t>回應，同意連線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211851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 b="1" dirty="0"/>
                        <a:t>690091</a:t>
                      </a:r>
                      <a:endParaRPr lang="zh-TW" altLang="en-US" sz="90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262.917614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56569 → 1234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TCP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44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/>
                        <a:t>ACK</a:t>
                      </a:r>
                      <a:endParaRPr lang="en-US" sz="90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900"/>
                        <a:t>三向交握完成，</a:t>
                      </a:r>
                      <a:r>
                        <a:rPr lang="en-US" altLang="zh-TW" sz="900"/>
                        <a:t>TCP </a:t>
                      </a:r>
                      <a:r>
                        <a:rPr lang="zh-TW" altLang="en-US" sz="900"/>
                        <a:t>連線建立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647752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 b="1" dirty="0"/>
                        <a:t>690092</a:t>
                      </a:r>
                      <a:endParaRPr lang="zh-TW" altLang="en-US" sz="90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 dirty="0"/>
                        <a:t>262.917772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56569 → 1234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HTTP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270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/>
                        <a:t>GET /</a:t>
                      </a:r>
                      <a:r>
                        <a:rPr lang="en-US" sz="900" b="1" dirty="0" err="1"/>
                        <a:t>api</a:t>
                      </a:r>
                      <a:r>
                        <a:rPr lang="en-US" sz="900" b="1" dirty="0"/>
                        <a:t>/</a:t>
                      </a:r>
                      <a:r>
                        <a:rPr lang="en-US" sz="900" b="1" dirty="0" err="1"/>
                        <a:t>sonicos</a:t>
                      </a:r>
                      <a:r>
                        <a:rPr lang="en-US" sz="900" b="1" dirty="0"/>
                        <a:t>/is-</a:t>
                      </a:r>
                      <a:r>
                        <a:rPr lang="en-US" sz="900" b="1" dirty="0" err="1"/>
                        <a:t>sslvpn</a:t>
                      </a:r>
                      <a:r>
                        <a:rPr lang="en-US" sz="900" b="1" dirty="0"/>
                        <a:t>-enabled</a:t>
                      </a:r>
                      <a:endParaRPr lang="en-US" sz="90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 dirty="0"/>
                        <a:t>Nessus </a:t>
                      </a:r>
                      <a:r>
                        <a:rPr lang="zh-TW" altLang="en-US" sz="900" dirty="0"/>
                        <a:t>發送真正的弱點探測請求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96684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 b="1" dirty="0"/>
                        <a:t>690093</a:t>
                      </a:r>
                      <a:endParaRPr lang="zh-TW" altLang="en-US" sz="90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262.917785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1234 → 56569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TCP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44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ACK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900" dirty="0"/>
                        <a:t>伺服器確認已收到請求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1490221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 b="1" dirty="0"/>
                        <a:t>690094</a:t>
                      </a:r>
                      <a:endParaRPr lang="zh-TW" altLang="en-US" sz="90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262.918254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1234 → 56569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HTTP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358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900" b="1" dirty="0"/>
                        <a:t>HTTP/1.1 200 OK , JSON</a:t>
                      </a:r>
                      <a:endParaRPr lang="pl-PL" sz="90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900" dirty="0"/>
                        <a:t>伺服器回傳回應（此例返回 </a:t>
                      </a:r>
                      <a:r>
                        <a:rPr lang="en-US" altLang="zh-TW" sz="900" dirty="0"/>
                        <a:t>JSON </a:t>
                      </a:r>
                      <a:r>
                        <a:rPr lang="zh-TW" altLang="en-US" sz="900" dirty="0"/>
                        <a:t>資料）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3123665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 b="1" dirty="0"/>
                        <a:t>690095</a:t>
                      </a:r>
                      <a:endParaRPr lang="zh-TW" altLang="en-US" sz="90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262.918276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56569 → 1234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TCP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44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ACK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900" dirty="0"/>
                        <a:t>掃描端確認收到伺服器回應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1427555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 b="1"/>
                        <a:t>690100</a:t>
                      </a:r>
                      <a:endParaRPr lang="zh-TW" altLang="en-US" sz="90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262.918801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56569 → 1234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TCP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900"/>
                        <a:t>44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RST, ACK</a:t>
                      </a:r>
                      <a:endParaRPr lang="en-US" sz="90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900" dirty="0"/>
                        <a:t>掃描端主動結束連線（重設連線）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941605243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9C4CFB0F-D2BC-9E47-4760-7F50444695EC}"/>
              </a:ext>
            </a:extLst>
          </p:cNvPr>
          <p:cNvSpPr/>
          <p:nvPr/>
        </p:nvSpPr>
        <p:spPr>
          <a:xfrm>
            <a:off x="7810500" y="4051103"/>
            <a:ext cx="2349500" cy="3924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4C40D0E-9209-E3CF-91AF-623BFA4039B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/>
              <a:t>網路封包傳輸過程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85339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BB6E7CA3-15A6-5CFF-4B39-EF3E21268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087" y="0"/>
            <a:ext cx="5963825" cy="6858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5B03217-828F-C4AE-6403-0D9C89982AE2}"/>
              </a:ext>
            </a:extLst>
          </p:cNvPr>
          <p:cNvSpPr/>
          <p:nvPr/>
        </p:nvSpPr>
        <p:spPr>
          <a:xfrm>
            <a:off x="5189220" y="5486400"/>
            <a:ext cx="1699260" cy="1295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9502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C424DA-501C-74B3-8442-32E0543BA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8000" dirty="0"/>
              <a:t>END</a:t>
            </a:r>
            <a:endParaRPr lang="zh-TW" altLang="en-US" sz="8000" dirty="0"/>
          </a:p>
        </p:txBody>
      </p:sp>
    </p:spTree>
    <p:extLst>
      <p:ext uri="{BB962C8B-B14F-4D97-AF65-F5344CB8AC3E}">
        <p14:creationId xmlns:p14="http://schemas.microsoft.com/office/powerpoint/2010/main" val="3051653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B0ECDD-A85B-C1A9-4DC1-C72C0FBAF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/>
              <a:t>Decryption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729678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3CF52541-2AFD-E4E0-7F90-D5622DCA7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203" y="3429000"/>
            <a:ext cx="6439799" cy="255305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C6AD46A-B3E4-BC46-9E15-FFBFE892E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203" y="1242880"/>
            <a:ext cx="8535591" cy="189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234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1146</TotalTime>
  <Words>848</Words>
  <Application>Microsoft Office PowerPoint</Application>
  <PresentationFormat>寬螢幕</PresentationFormat>
  <Paragraphs>256</Paragraphs>
  <Slides>15</Slides>
  <Notes>2</Notes>
  <HiddenSlides>2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0" baseType="lpstr">
      <vt:lpstr>標楷體</vt:lpstr>
      <vt:lpstr>Aptos</vt:lpstr>
      <vt:lpstr>Aptos Display</vt:lpstr>
      <vt:lpstr>Arial</vt:lpstr>
      <vt:lpstr>Office 佈景主題</vt:lpstr>
      <vt:lpstr>Nessus掃描XAMPP(網路層)</vt:lpstr>
      <vt:lpstr>PowerPoint 簡報</vt:lpstr>
      <vt:lpstr>PowerPoint 簡報</vt:lpstr>
      <vt:lpstr>PowerPoint 簡報</vt:lpstr>
      <vt:lpstr>PowerPoint 簡報</vt:lpstr>
      <vt:lpstr>PowerPoint 簡報</vt:lpstr>
      <vt:lpstr>網路封包傳輸過程</vt:lpstr>
      <vt:lpstr>PowerPoint 簡報</vt:lpstr>
      <vt:lpstr>PowerPoint 簡報</vt:lpstr>
      <vt:lpstr>PowerPoint 簡報</vt:lpstr>
      <vt:lpstr>PowerPoint 簡報</vt:lpstr>
      <vt:lpstr>PowerPoint 簡報</vt:lpstr>
      <vt:lpstr>END</vt:lpstr>
      <vt:lpstr>Decryption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雅婷 莊</dc:creator>
  <cp:lastModifiedBy>雅婷 莊</cp:lastModifiedBy>
  <cp:revision>6</cp:revision>
  <dcterms:created xsi:type="dcterms:W3CDTF">2025-09-25T12:17:39Z</dcterms:created>
  <dcterms:modified xsi:type="dcterms:W3CDTF">2025-09-26T07:24:30Z</dcterms:modified>
</cp:coreProperties>
</file>